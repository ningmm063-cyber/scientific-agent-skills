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全部单元格无填充，仅保留横向分隔线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表格与PPT截图排版；原生PowerPoint表格。保留既有内容，不新增机制或疗效结论。全部单元格无填充，仅保留横向分隔线。mPFC：内侧前额叶皮层；TPJ：颞顶联合区；pSTS：后部上颞沟；NAc：伏隔核；VTA：腹侧被盖区；E:I：兴奋/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995160" y="594360"/>
          <a:ext cx="7269478" cy="681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370"/>
                <a:gridCol w="1708327"/>
                <a:gridCol w="1853717"/>
                <a:gridCol w="1890064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5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5476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14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56616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A7B88"/>
                </a:solidFill>
                <a:latin typeface="Noto Sans CJK SC"/>
              </a:defRPr>
            </a:pPr>
            <a:r>
              <a:t>左侧保留原文图示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1480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A7B88"/>
                </a:solidFill>
                <a:latin typeface="Noto Sans CJK SC"/>
              </a:defRPr>
            </a:pPr>
            <a:r>
              <a:t>将右侧表格整体复制到现有PPT中；</a:t>
            </a:r>
            <a:br/>
            <a:r>
              <a:t>左侧提示文字可删除。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62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44E65"/>
                </a:solidFill>
                <a:latin typeface="Noto Sans CJK SC"/>
              </a:defRPr>
            </a:pPr>
            <a:r>
              <a:t>社会神经环路与潜在治疗策略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3624558" cy="60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201771"/>
                <a:gridCol w="3474262"/>
                <a:gridCol w="3542385"/>
              </a:tblGrid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功能领域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主要神经环路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关键机制或</a:t>
                      </a:r>
                    </a:p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生物标志物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200" b="1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潜在治疗方法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高阶社会认知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心理化网络：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mPFC、TPJ、pSTS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心理状态归因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与模型更新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结构化观点采择课程；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基于反馈的社会接触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（更新社会模型）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社会线索知觉、动作表征及社会预测／时序加工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pSTS；小脑环路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线索加工与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预测编码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注视位置联动的注意训练；交互模仿训练；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小脑神经调控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社会记忆与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社会—情感价值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海马–杏仁核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海马–NAc功能连接；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调节因素：催产素、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加压素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药物治疗与社会学习任务相结合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DC6CE"/>
                      </a:solidFill>
                    </a:lnB>
                  </a:tcPr>
                </a:tc>
              </a:tr>
              <a:tr h="13647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社会奖赏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与社会兴趣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中脑边缘通路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（VTA–NAc）；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mPFC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多巴胺能信号传导；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E:I平衡；调节因素：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催产素、加压素、阿片类物质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靶向鼻内加压素治疗；</a:t>
                      </a:r>
                    </a:p>
                    <a:p>
                      <a:pPr>
                        <a:spcAft>
                          <a:spcPts val="0"/>
                        </a:spcAft>
                        <a:defRPr sz="2100" b="0">
                          <a:solidFill>
                            <a:srgbClr val="172B3A"/>
                          </a:solidFill>
                          <a:latin typeface="Noto Sans CJK SC"/>
                        </a:defRPr>
                      </a:pPr>
                      <a:r>
                        <a:t>恢复mPFC E:I平衡</a:t>
                      </a:r>
                    </a:p>
                  </a:txBody>
                  <a:tcPr anchor="ctr" marL="100584" marR="100584" marT="73152" marB="73152">
                    <a:noFill/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7635240"/>
            <a:ext cx="1362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673"/>
                </a:solidFill>
                <a:latin typeface="Noto Sans CJK SC"/>
              </a:defRPr>
            </a:pPr>
            <a:r>
              <a:t>潜在治疗策略：不应直接视为已有充分临床证据支持的常规治疗方案。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