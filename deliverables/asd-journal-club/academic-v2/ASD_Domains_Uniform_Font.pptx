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本页讲稿（约2分钟）</a:t>
            </a:r>
          </a:p>
          <a:p/>
          <a:p>
            <a:r>
              <a:t>这一页用四个功能—计算领域组织后面的内容。这里的“功能”指我们讨论哪类社会能力，“计算”指大脑对相关信息进行选择、赋值、预测和更新等加工。需要先说明，后两列是为了汇报而作的概括，不是作者正式提出的一一对应模型。</a:t>
            </a:r>
          </a:p>
          <a:p/>
          <a:p>
            <a:r>
              <a:t>第一个领域是社会奖赏与兴趣，关注社会互动如何获得价值，以及个体为什么愿意参与。这里要区分接近行为、想要和喜欢：没有主动接近，不一定意味着没有互动意愿或不能体验愉悦。</a:t>
            </a:r>
          </a:p>
          <a:p/>
          <a:p>
            <a:r>
              <a:t>第二个领域是社会记忆与情感价值，涉及识别人物、记住互动经历，以及这些经历带来的情感意义。如果儿童没有认出熟人，需要区分最初是否注意、是否充分编码，以及之后的保持和提取，而不能直接概括为记忆差。编码本身就是记忆的一部分。</a:t>
            </a:r>
          </a:p>
          <a:p/>
          <a:p>
            <a:r>
              <a:t>第三个领域涉及社会线索、动作表征、预测与时序。它关注如何利用目光、动作等动态线索理解和预测行为，并在合适的时间回应。看懂对方在做什么，不等于已经准确理解对方相信什么；但这两类过程也会相互支持。</a:t>
            </a:r>
          </a:p>
          <a:p/>
          <a:p>
            <a:r>
              <a:t>第四个领域是高阶认知与模型更新，包括推断他人的信念，以及根据新信息修正对这个人的理解。心理理论并非单一能力，其任务表现还受到语言、记忆、提示方式和时间要求影响。明确提问时答对，也不保证在日常互动中能够自发运用。</a:t>
            </a:r>
          </a:p>
          <a:p/>
          <a:p>
            <a:r>
              <a:t>这四个领域与RDoC的社会过程构念存在重叠，但并非一一对应。它们也不是四个独立脑模块或四种临床亚型。采用这一框架，是为了把宽泛的社交表现拆解成更具体的问题，再考察相关神经环路以及领域之间的交互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246B86"/>
                </a:solidFill>
                <a:latin typeface="Noto Sans CJK SC"/>
              </a:defRPr>
            </a:pPr>
            <a:r>
              <a:rPr>
                <a:ea typeface="Noto Sans CJK SC"/>
                <a:latin typeface="Noto Sans CJK SC"/>
                <a:cs typeface="Noto Sans CJK SC"/>
              </a:rPr>
              <a:t>BIOLOGICAL PSYCHIATRY 2026  /  引言与框架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60120"/>
            <a:ext cx="1307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100" b="1">
                <a:solidFill>
                  <a:srgbClr val="193247"/>
                </a:solidFill>
                <a:latin typeface="Noto Sans CJK SC"/>
              </a:defRPr>
            </a:pPr>
            <a:r>
              <a:rPr>
                <a:ea typeface="Noto Sans CJK SC"/>
                <a:latin typeface="Noto Sans CJK SC"/>
                <a:cs typeface="Noto Sans CJK SC"/>
              </a:rPr>
              <a:t>四个功能—计算领域：内容概览与解释边界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00784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627582"/>
                </a:solidFill>
                <a:latin typeface="Noto Sans CJK SC"/>
              </a:defRPr>
            </a:pPr>
            <a:r>
              <a:rPr>
                <a:ea typeface="Noto Sans CJK SC"/>
                <a:latin typeface="Noto Sans CJK SC"/>
                <a:cs typeface="Noto Sans CJK SC"/>
              </a:rPr>
              <a:t>根据正文整理；后两列为汇报者归纳，非原文表格逐字翻译。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240280"/>
          <a:ext cx="129844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4617720"/>
                <a:gridCol w="4572000"/>
              </a:tblGrid>
              <a:tr h="640080"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功能—计算领域</a:t>
                      </a:r>
                    </a:p>
                  </a:txBody>
                  <a:tcPr anchor="ctr" marL="146304" marR="146304">
                    <a:solidFill>
                      <a:srgbClr val="246B86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主要加工过程（归纳）</a:t>
                      </a:r>
                    </a:p>
                  </a:txBody>
                  <a:tcPr anchor="ctr" marL="146304" marR="146304">
                    <a:solidFill>
                      <a:srgbClr val="246B86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研究解释中的关键区分</a:t>
                      </a:r>
                    </a:p>
                  </a:txBody>
                  <a:tcPr anchor="ctr" marL="146304" marR="146304">
                    <a:solidFill>
                      <a:srgbClr val="246B86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1 社会奖赏与兴趣</a:t>
                      </a:r>
                    </a:p>
                  </a:txBody>
                  <a:tcPr anchor="ctr" marL="146304" marR="146304">
                    <a:solidFill>
                      <a:srgbClr val="EDF3F6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价值赋予／启动参与</a:t>
                      </a:r>
                    </a:p>
                  </a:txBody>
                  <a:tcPr anchor="ctr" marL="146304" marR="146304">
                    <a:solidFill>
                      <a:srgbClr val="EDF3F6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接近行为 ≠ 想要 ≠ 喜欢</a:t>
                      </a:r>
                    </a:p>
                  </a:txBody>
                  <a:tcPr anchor="ctr" marL="146304" marR="146304">
                    <a:solidFill>
                      <a:srgbClr val="EDF3F6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2 社会记忆与情感价值</a:t>
                      </a:r>
                    </a:p>
                  </a:txBody>
                  <a:tcPr anchor="ctr" marL="146304" marR="146304">
                    <a:solidFill>
                      <a:srgbClr val="F5F8FA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识别熟人／赋予情感意义</a:t>
                      </a:r>
                    </a:p>
                  </a:txBody>
                  <a:tcPr anchor="ctr" marL="146304" marR="146304">
                    <a:solidFill>
                      <a:srgbClr val="F5F8FA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区分注意、记忆编码、</a:t>
                      </a:r>
                    </a:p>
                    <a:p>
                      <a:pPr>
                        <a:defRPr sz="2200" b="0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保持与提取</a:t>
                      </a:r>
                    </a:p>
                  </a:txBody>
                  <a:tcPr anchor="ctr" marL="146304" marR="146304">
                    <a:solidFill>
                      <a:srgbClr val="F5F8FA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3 社会线索感知／动作表征／社会预测与时序</a:t>
                      </a:r>
                    </a:p>
                  </a:txBody>
                  <a:tcPr anchor="ctr" marL="146304" marR="146304">
                    <a:solidFill>
                      <a:srgbClr val="EDF3F6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动态取样、映射、预测</a:t>
                      </a:r>
                    </a:p>
                  </a:txBody>
                  <a:tcPr anchor="ctr" marL="146304" marR="146304">
                    <a:solidFill>
                      <a:srgbClr val="EDF3F6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行动理解 ≠ 心理状态归因</a:t>
                      </a:r>
                    </a:p>
                  </a:txBody>
                  <a:tcPr anchor="ctr" marL="146304" marR="146304">
                    <a:solidFill>
                      <a:srgbClr val="EDF3F6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4 高阶认知与模型更新</a:t>
                      </a:r>
                    </a:p>
                  </a:txBody>
                  <a:tcPr anchor="ctr" marL="146304" marR="146304">
                    <a:solidFill>
                      <a:srgbClr val="F5F8FA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信念推断／修订人物模型</a:t>
                      </a:r>
                    </a:p>
                  </a:txBody>
                  <a:tcPr anchor="ctr" marL="146304" marR="146304">
                    <a:solidFill>
                      <a:srgbClr val="F5F8FA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ToM并非单一能力；</a:t>
                      </a:r>
                    </a:p>
                    <a:p>
                      <a:pPr>
                        <a:defRPr sz="2200" b="0">
                          <a:solidFill>
                            <a:srgbClr val="193247"/>
                          </a:solidFill>
                          <a:latin typeface="Noto Sans CJK SC"/>
                        </a:defRPr>
                      </a:pPr>
                      <a:r>
                        <a:rPr>
                          <a:ea typeface="Noto Sans CJK SC"/>
                          <a:latin typeface="Noto Sans CJK SC"/>
                          <a:cs typeface="Noto Sans CJK SC"/>
                        </a:rPr>
                        <a:t>表现受任务要求影响</a:t>
                      </a:r>
                    </a:p>
                  </a:txBody>
                  <a:tcPr anchor="ctr" marL="146304" marR="146304">
                    <a:solidFill>
                      <a:srgbClr val="F5F8FA"/>
                    </a:solidFill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7388352"/>
            <a:ext cx="1298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246B86"/>
                </a:solidFill>
                <a:latin typeface="Noto Sans CJK SC"/>
              </a:defRPr>
            </a:pPr>
            <a:r>
              <a:rPr>
                <a:ea typeface="Noto Sans CJK SC"/>
                <a:latin typeface="Noto Sans CJK SC"/>
                <a:cs typeface="Noto Sans CJK SC"/>
              </a:rPr>
              <a:t>与RDoC社会过程构念有重叠；各领域相互作用，不代表独立模块或临床亚型。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