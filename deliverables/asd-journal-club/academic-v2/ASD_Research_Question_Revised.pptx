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根据用户截图重建为可编辑文本。唯一内容修改：左侧第3点由“广义诊断／社会总分作为主要终点”改为“以广义诊断界定人群，以社会功能总分评价疗效”，区分入组依据与疗效终点。引文沿用截图，未在本次重新核验。</a:t>
            </a:r>
          </a:p>
          <a:p>
            <a:r>
              <a:t>讲稿：这一页提出本文的核心问题：我们所说的社交困难，是否包含了不同的加工过程和神经机制？现有干预效果因人而异，任务中的进步也未必迁移到日常生活。如果主要依据ASD诊断划分研究人群，再用社会功能总分评价疗效，就可能忽略重要差异。同样是不主动互动，可能涉及参与动力、社会线索识别或互动节奏等不同困难。这些例子用于帮助理解，并不是已验证的患者分型。作者进一步讨论相同症状背后的不同过程、部分可区分的神经环路，以及发育过程中环路协同关系的变化。接下来四个功能领域是组织证据的框架，不是已确立的临床亚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246B86"/>
                </a:solidFill>
                <a:latin typeface="Noto Sans CJK SC"/>
              </a:defRPr>
            </a:pPr>
            <a:r>
              <a:t>BIOLOGICAL PSYCHIATRY 2026  /  引言与框架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033271"/>
            <a:ext cx="64008" cy="758952"/>
          </a:xfrm>
          <a:prstGeom prst="rect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41832"/>
            <a:ext cx="12801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83247"/>
                </a:solidFill>
                <a:latin typeface="Noto Sans CJK SC"/>
              </a:defRPr>
            </a:pPr>
            <a:r>
              <a:t>研究问题：广义社交障碍可能掩盖不同机制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002536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46B86"/>
                </a:solidFill>
                <a:latin typeface="Noto Sans CJK SC"/>
              </a:defRPr>
            </a:pPr>
            <a:r>
              <a:t>临床与试验层面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5552" y="2002536"/>
            <a:ext cx="5943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46B86"/>
                </a:solidFill>
                <a:latin typeface="Noto Sans CJK SC"/>
              </a:defRPr>
            </a:pPr>
            <a:r>
              <a:t>作者提出的机制问题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" y="2706624"/>
            <a:ext cx="6035040" cy="22860"/>
          </a:xfrm>
          <a:prstGeom prst="rect">
            <a:avLst/>
          </a:prstGeom>
          <a:solidFill>
            <a:srgbClr val="B5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45552" y="2706624"/>
            <a:ext cx="6035040" cy="22860"/>
          </a:xfrm>
          <a:prstGeom prst="rect">
            <a:avLst/>
          </a:prstGeom>
          <a:solidFill>
            <a:srgbClr val="B5C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136391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46B86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72384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700" b="0">
                <a:solidFill>
                  <a:srgbClr val="183247"/>
                </a:solidFill>
                <a:latin typeface="Noto Sans CJK SC"/>
              </a:defRPr>
            </a:pPr>
            <a:r>
              <a:t>干预效应有限、个体差异显著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3136391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46B86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8784" y="3072384"/>
            <a:ext cx="5394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0">
                <a:solidFill>
                  <a:srgbClr val="183247"/>
                </a:solidFill>
                <a:latin typeface="Noto Sans CJK SC"/>
              </a:defRPr>
            </a:pPr>
            <a:r>
              <a:t>相同症状是否由不同机制产生？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2702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46B8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06240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700" b="0">
                <a:solidFill>
                  <a:srgbClr val="183247"/>
                </a:solidFill>
                <a:latin typeface="Noto Sans CJK SC"/>
              </a:defRPr>
            </a:pPr>
            <a:r>
              <a:t>任务改善难以泛化至日常生活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42702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46B8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4" y="4206240"/>
            <a:ext cx="5394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0">
                <a:solidFill>
                  <a:srgbClr val="183247"/>
                </a:solidFill>
                <a:latin typeface="Noto Sans CJK SC"/>
              </a:defRPr>
            </a:pPr>
            <a:r>
              <a:t>不同过程依赖哪些部分可分离的</a:t>
            </a:r>
          </a:p>
          <a:p>
            <a:pPr>
              <a:defRPr sz="2600" b="0">
                <a:solidFill>
                  <a:srgbClr val="183247"/>
                </a:solidFill>
                <a:latin typeface="Noto Sans CJK SC"/>
              </a:defRPr>
            </a:pPr>
            <a:r>
              <a:t>神经环路？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4681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46B86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404104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700" b="0">
                <a:solidFill>
                  <a:srgbClr val="183247"/>
                </a:solidFill>
                <a:latin typeface="Noto Sans CJK SC"/>
              </a:defRPr>
            </a:pPr>
            <a:r>
              <a:t>以广义诊断界定人群，</a:t>
            </a:r>
          </a:p>
          <a:p>
            <a:pPr>
              <a:defRPr sz="2700" b="0">
                <a:solidFill>
                  <a:srgbClr val="183247"/>
                </a:solidFill>
                <a:latin typeface="Noto Sans CJK SC"/>
              </a:defRPr>
            </a:pPr>
            <a:r>
              <a:t>以社会功能总分评价疗效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54681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46B86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5404104"/>
            <a:ext cx="5394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0">
                <a:solidFill>
                  <a:srgbClr val="183247"/>
                </a:solidFill>
                <a:latin typeface="Noto Sans CJK SC"/>
              </a:defRPr>
            </a:pPr>
            <a:r>
              <a:t>发育节点如何改变神经环路之间的</a:t>
            </a:r>
          </a:p>
          <a:p>
            <a:pPr>
              <a:defRPr sz="2600" b="0">
                <a:solidFill>
                  <a:srgbClr val="183247"/>
                </a:solidFill>
                <a:latin typeface="Noto Sans CJK SC"/>
              </a:defRPr>
            </a:pPr>
            <a:r>
              <a:t>耦合？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7242048"/>
            <a:ext cx="12984480" cy="25603"/>
          </a:xfrm>
          <a:prstGeom prst="rect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7415783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46B86"/>
                </a:solidFill>
                <a:latin typeface="Noto Sans CJK SC"/>
              </a:defRPr>
            </a:pPr>
            <a:r>
              <a:t>引文：Sandbank 2023 BMJ [4]；Carruthers 2020 Autism Res [6]；Sikich 2021 NEJM [7]。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