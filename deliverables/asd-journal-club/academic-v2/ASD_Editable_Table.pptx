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表格与PPT截图排版；原生PowerPoint表格。保留既有内容，不新增机制或疗效结论。配色依次对应原图绿色、紫色、橙色、黄色四层。mPFC：内侧前额叶皮层；TPJ：颞顶联合区；pSTS：后部上颞沟；NAc：伏隔核；VTA：腹侧被盖区；E:I：兴奋/抑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表格与PPT截图排版；原生PowerPoint表格。保留既有内容，不新增机制或疗效结论。配色依次对应原图绿色、紫色、橙色、黄色四层。mPFC：内侧前额叶皮层；TPJ：颞顶联合区；pSTS：后部上颞沟；NAc：伏隔核；VTA：腹侧被盖区；E:I：兴奋/抑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995160" y="594360"/>
          <a:ext cx="7269478" cy="681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370"/>
                <a:gridCol w="1708327"/>
                <a:gridCol w="1853717"/>
                <a:gridCol w="1890064"/>
              </a:tblGrid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功能领域</a:t>
                      </a:r>
                    </a:p>
                  </a:txBody>
                  <a:tcPr anchor="ctr" marL="100584" marR="100584" marT="73152" marB="73152">
                    <a:solidFill>
                      <a:srgbClr val="8DB4E2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主要神经环路</a:t>
                      </a:r>
                    </a:p>
                  </a:txBody>
                  <a:tcPr anchor="ctr" marL="100584" marR="100584" marT="73152" marB="73152">
                    <a:solidFill>
                      <a:srgbClr val="8DB4E2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关键机制或</a:t>
                      </a:r>
                    </a:p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生物标志物</a:t>
                      </a:r>
                    </a:p>
                  </a:txBody>
                  <a:tcPr anchor="ctr" marL="100584" marR="100584" marT="73152" marB="73152">
                    <a:solidFill>
                      <a:srgbClr val="8DB4E2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潜在治疗方法</a:t>
                      </a:r>
                    </a:p>
                  </a:txBody>
                  <a:tcPr anchor="ctr" marL="100584" marR="100584" marT="73152" marB="73152">
                    <a:solidFill>
                      <a:srgbClr val="8DB4E2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高阶社会认知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solidFill>
                      <a:srgbClr val="D1F5EC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心理化网络：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mPFC、TPJ、pSTS</a:t>
                      </a:r>
                    </a:p>
                  </a:txBody>
                  <a:tcPr anchor="ctr" marL="100584" marR="100584" marT="73152" marB="73152">
                    <a:solidFill>
                      <a:srgbClr val="D1F5EC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心理状态归因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solidFill>
                      <a:srgbClr val="D1F5EC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结构化观点采择课程；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基于反馈的社会接触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（更新社会模型）</a:t>
                      </a:r>
                    </a:p>
                  </a:txBody>
                  <a:tcPr anchor="ctr" marL="100584" marR="100584" marT="73152" marB="73152">
                    <a:solidFill>
                      <a:srgbClr val="D1F5EC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社会线索知觉、动作表征及社会预测／时序加工</a:t>
                      </a:r>
                    </a:p>
                  </a:txBody>
                  <a:tcPr anchor="ctr" marL="100584" marR="100584" marT="73152" marB="73152">
                    <a:solidFill>
                      <a:srgbClr val="E6D9FA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pSTS；小脑环路</a:t>
                      </a:r>
                    </a:p>
                  </a:txBody>
                  <a:tcPr anchor="ctr" marL="100584" marR="100584" marT="73152" marB="73152">
                    <a:solidFill>
                      <a:srgbClr val="E6D9FA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线索加工与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预测编码</a:t>
                      </a:r>
                    </a:p>
                  </a:txBody>
                  <a:tcPr anchor="ctr" marL="100584" marR="100584" marT="73152" marB="73152">
                    <a:solidFill>
                      <a:srgbClr val="E6D9FA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注视位置联动的注意训练；交互模仿训练；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小脑神经调控</a:t>
                      </a:r>
                    </a:p>
                  </a:txBody>
                  <a:tcPr anchor="ctr" marL="100584" marR="100584" marT="73152" marB="73152">
                    <a:solidFill>
                      <a:srgbClr val="E6D9FA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社会记忆与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社会—情感价值</a:t>
                      </a:r>
                    </a:p>
                  </a:txBody>
                  <a:tcPr anchor="ctr" marL="100584" marR="100584" marT="73152" marB="73152">
                    <a:solidFill>
                      <a:srgbClr val="FAE1C5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海马–杏仁核</a:t>
                      </a:r>
                    </a:p>
                  </a:txBody>
                  <a:tcPr anchor="ctr" marL="100584" marR="100584" marT="73152" marB="73152">
                    <a:solidFill>
                      <a:srgbClr val="FAE1C5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海马–NAc功能连接；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调节因素：催产素、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加压素</a:t>
                      </a:r>
                    </a:p>
                  </a:txBody>
                  <a:tcPr anchor="ctr" marL="100584" marR="100584" marT="73152" marB="73152">
                    <a:solidFill>
                      <a:srgbClr val="FAE1C5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药物治疗与社会学习任务相结合</a:t>
                      </a:r>
                    </a:p>
                  </a:txBody>
                  <a:tcPr anchor="ctr" marL="100584" marR="100584" marT="73152" marB="73152">
                    <a:solidFill>
                      <a:srgbClr val="FAE1C5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社会奖赏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与社会兴趣</a:t>
                      </a:r>
                    </a:p>
                  </a:txBody>
                  <a:tcPr anchor="ctr" marL="100584" marR="100584" marT="73152" marB="73152">
                    <a:solidFill>
                      <a:srgbClr val="FAF8C9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中脑边缘通路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（VTA–NAc）；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</a:t>
                      </a:r>
                    </a:p>
                  </a:txBody>
                  <a:tcPr anchor="ctr" marL="100584" marR="100584" marT="73152" marB="73152">
                    <a:solidFill>
                      <a:srgbClr val="FAF8C9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多巴胺能信号传导；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E:I平衡；调节因素：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催产素、加压素、阿片类物质</a:t>
                      </a:r>
                    </a:p>
                  </a:txBody>
                  <a:tcPr anchor="ctr" marL="100584" marR="100584" marT="73152" marB="73152">
                    <a:solidFill>
                      <a:srgbClr val="FAF8C9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靶向鼻内加压素治疗；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恢复mPFC E:I平衡</a:t>
                      </a:r>
                    </a:p>
                  </a:txBody>
                  <a:tcPr anchor="ctr" marL="100584" marR="100584" marT="73152" marB="73152">
                    <a:solidFill>
                      <a:srgbClr val="FAF8C9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2920" y="356616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A7B88"/>
                </a:solidFill>
                <a:latin typeface="Noto Sans CJK SC"/>
              </a:defRPr>
            </a:pPr>
            <a:r>
              <a:t>左侧保留原文图示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A7B88"/>
                </a:solidFill>
                <a:latin typeface="Noto Sans CJK SC"/>
              </a:defRPr>
            </a:pPr>
            <a:r>
              <a:t>将右侧表格整体复制到现有PPT中；</a:t>
            </a:r>
            <a:br/>
            <a:r>
              <a:t>左侧提示文字可删除。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35240"/>
            <a:ext cx="1362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6673"/>
                </a:solidFill>
                <a:latin typeface="Noto Sans CJK SC"/>
              </a:defRPr>
            </a:pPr>
            <a:r>
              <a:t>潜在治疗策略：不应直接视为已有充分临床证据支持的常规治疗方案。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62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44E65"/>
                </a:solidFill>
                <a:latin typeface="Noto Sans CJK SC"/>
              </a:defRPr>
            </a:pPr>
            <a:r>
              <a:t>社会神经环路与潜在治疗策略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3624558" cy="608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140"/>
                <a:gridCol w="3201771"/>
                <a:gridCol w="3474262"/>
                <a:gridCol w="3542385"/>
              </a:tblGrid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功能领域</a:t>
                      </a:r>
                    </a:p>
                  </a:txBody>
                  <a:tcPr anchor="ctr" marL="100584" marR="100584" marT="73152" marB="73152">
                    <a:solidFill>
                      <a:srgbClr val="8DB4E2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主要神经环路</a:t>
                      </a:r>
                    </a:p>
                  </a:txBody>
                  <a:tcPr anchor="ctr" marL="100584" marR="100584" marT="73152" marB="73152">
                    <a:solidFill>
                      <a:srgbClr val="8DB4E2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关键机制或</a:t>
                      </a:r>
                    </a:p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生物标志物</a:t>
                      </a:r>
                    </a:p>
                  </a:txBody>
                  <a:tcPr anchor="ctr" marL="100584" marR="100584" marT="73152" marB="73152">
                    <a:solidFill>
                      <a:srgbClr val="8DB4E2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潜在治疗方法</a:t>
                      </a:r>
                    </a:p>
                  </a:txBody>
                  <a:tcPr anchor="ctr" marL="100584" marR="100584" marT="73152" marB="73152">
                    <a:solidFill>
                      <a:srgbClr val="8DB4E2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高阶社会认知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solidFill>
                      <a:srgbClr val="D1F5EC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心理化网络：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mPFC、TPJ、pSTS</a:t>
                      </a:r>
                    </a:p>
                  </a:txBody>
                  <a:tcPr anchor="ctr" marL="100584" marR="100584" marT="73152" marB="73152">
                    <a:solidFill>
                      <a:srgbClr val="D1F5EC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心理状态归因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solidFill>
                      <a:srgbClr val="D1F5EC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结构化观点采择课程；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基于反馈的社会接触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（更新社会模型）</a:t>
                      </a:r>
                    </a:p>
                  </a:txBody>
                  <a:tcPr anchor="ctr" marL="100584" marR="100584" marT="73152" marB="73152">
                    <a:solidFill>
                      <a:srgbClr val="D1F5EC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社会线索知觉、动作表征及社会预测／时序加工</a:t>
                      </a:r>
                    </a:p>
                  </a:txBody>
                  <a:tcPr anchor="ctr" marL="100584" marR="100584" marT="73152" marB="73152">
                    <a:solidFill>
                      <a:srgbClr val="E6D9FA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pSTS；小脑环路</a:t>
                      </a:r>
                    </a:p>
                  </a:txBody>
                  <a:tcPr anchor="ctr" marL="100584" marR="100584" marT="73152" marB="73152">
                    <a:solidFill>
                      <a:srgbClr val="E6D9FA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线索加工与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预测编码</a:t>
                      </a:r>
                    </a:p>
                  </a:txBody>
                  <a:tcPr anchor="ctr" marL="100584" marR="100584" marT="73152" marB="73152">
                    <a:solidFill>
                      <a:srgbClr val="E6D9FA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注视位置联动的注意训练；交互模仿训练；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小脑神经调控</a:t>
                      </a:r>
                    </a:p>
                  </a:txBody>
                  <a:tcPr anchor="ctr" marL="100584" marR="100584" marT="73152" marB="73152">
                    <a:solidFill>
                      <a:srgbClr val="E6D9FA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社会记忆与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社会—情感价值</a:t>
                      </a:r>
                    </a:p>
                  </a:txBody>
                  <a:tcPr anchor="ctr" marL="100584" marR="100584" marT="73152" marB="73152">
                    <a:solidFill>
                      <a:srgbClr val="FAE1C5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海马–杏仁核</a:t>
                      </a:r>
                    </a:p>
                  </a:txBody>
                  <a:tcPr anchor="ctr" marL="100584" marR="100584" marT="73152" marB="73152">
                    <a:solidFill>
                      <a:srgbClr val="FAE1C5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海马–NAc功能连接；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调节因素：催产素、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加压素</a:t>
                      </a:r>
                    </a:p>
                  </a:txBody>
                  <a:tcPr anchor="ctr" marL="100584" marR="100584" marT="73152" marB="73152">
                    <a:solidFill>
                      <a:srgbClr val="FAE1C5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药物治疗与社会学习任务相结合</a:t>
                      </a:r>
                    </a:p>
                  </a:txBody>
                  <a:tcPr anchor="ctr" marL="100584" marR="100584" marT="73152" marB="73152">
                    <a:solidFill>
                      <a:srgbClr val="FAE1C5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社会奖赏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与社会兴趣</a:t>
                      </a:r>
                    </a:p>
                  </a:txBody>
                  <a:tcPr anchor="ctr" marL="100584" marR="100584" marT="73152" marB="73152">
                    <a:solidFill>
                      <a:srgbClr val="FAF8C9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中脑边缘通路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（VTA–NAc）；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</a:t>
                      </a:r>
                    </a:p>
                  </a:txBody>
                  <a:tcPr anchor="ctr" marL="100584" marR="100584" marT="73152" marB="73152">
                    <a:solidFill>
                      <a:srgbClr val="FAF8C9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多巴胺能信号传导；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E:I平衡；调节因素：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催产素、加压素、阿片类物质</a:t>
                      </a:r>
                    </a:p>
                  </a:txBody>
                  <a:tcPr anchor="ctr" marL="100584" marR="100584" marT="73152" marB="73152">
                    <a:solidFill>
                      <a:srgbClr val="FAF8C9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靶向鼻内加压素治疗；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恢复mPFC E:I平衡</a:t>
                      </a:r>
                    </a:p>
                  </a:txBody>
                  <a:tcPr anchor="ctr" marL="100584" marR="100584" marT="73152" marB="73152">
                    <a:solidFill>
                      <a:srgbClr val="FAF8C9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7635240"/>
            <a:ext cx="1362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6673"/>
                </a:solidFill>
                <a:latin typeface="Noto Sans CJK SC"/>
              </a:defRPr>
            </a:pPr>
            <a:r>
              <a:t>潜在治疗策略：不应直接视为已有充分临床证据支持的常规治疗方案。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